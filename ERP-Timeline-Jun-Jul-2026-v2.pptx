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0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515600" y="0"/>
            <a:ext cx="1673352" cy="1371600"/>
          </a:xfrm>
          <a:prstGeom prst="rect">
            <a:avLst/>
          </a:prstGeom>
          <a:solidFill>
            <a:srgbClr val="14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515600" y="5303520"/>
            <a:ext cx="1673352" cy="1554480"/>
          </a:xfrm>
          <a:prstGeom prst="rect">
            <a:avLst/>
          </a:prstGeom>
          <a:solidFill>
            <a:srgbClr val="14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55680" y="1371600"/>
            <a:ext cx="1033271" cy="3931920"/>
          </a:xfrm>
          <a:prstGeom prst="rect">
            <a:avLst/>
          </a:prstGeom>
          <a:solidFill>
            <a:srgbClr val="10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2926080" cy="457200"/>
          </a:xfrm>
          <a:prstGeom prst="rect">
            <a:avLst/>
          </a:prstGeom>
          <a:solidFill>
            <a:srgbClr val="F0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261872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01 JUN  →  06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A0B8E0"/>
                </a:solidFill>
              </a:rPr>
              <a:t>36 dias 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FFFFFF"/>
                </a:solidFill>
              </a:rPr>
              <a:t>transformaram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57600"/>
            <a:ext cx="9418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05A22"/>
                </a:solidFill>
              </a:rPr>
              <a:t>o ERP da Solução Móveis.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7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6309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7290"/>
                </a:solidFill>
              </a:rPr>
              <a:t>Relatório interno de evolução do sistema  ·  Julho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0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O que construímos juntos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90A8CC"/>
                </a:solidFill>
              </a:rPr>
              <a:t>em 36 dias de desenvolvimento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3547872" cy="2212848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3547872" cy="91440"/>
          </a:xfrm>
          <a:prstGeom prst="rect">
            <a:avLst/>
          </a:prstGeom>
          <a:solidFill>
            <a:srgbClr val="F0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709928"/>
            <a:ext cx="3273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05A22"/>
                </a:solidFill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3273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0B8CC"/>
                </a:solidFill>
              </a:rPr>
              <a:t>módulos
no ERP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1688" y="1508760"/>
            <a:ext cx="3547872" cy="22128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61688" y="1508760"/>
            <a:ext cx="3547872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98848" y="1709928"/>
            <a:ext cx="32735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 dirty="0"/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2926080"/>
            <a:ext cx="3273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0B8CC"/>
                </a:solidFill>
              </a:rPr>
              <a:t>apps
nos servidores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0456" y="1508760"/>
            <a:ext cx="3547872" cy="2212848"/>
          </a:xfrm>
          <a:prstGeom prst="rect">
            <a:avLst/>
          </a:prstGeom>
          <a:solidFill>
            <a:srgbClr val="08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0456" y="1508760"/>
            <a:ext cx="3547872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57616" y="1709928"/>
            <a:ext cx="3273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059669"/>
                </a:solidFill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2926080"/>
            <a:ext cx="3273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0B8CC"/>
                </a:solidFill>
              </a:rPr>
              <a:t>schemas
no banco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995928"/>
            <a:ext cx="3547872" cy="2212848"/>
          </a:xfrm>
          <a:prstGeom prst="rect">
            <a:avLst/>
          </a:prstGeom>
          <a:solidFill>
            <a:srgbClr val="2A1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3995928"/>
            <a:ext cx="3547872" cy="91440"/>
          </a:xfrm>
          <a:prstGeom prst="rect">
            <a:avLst/>
          </a:prstGeom>
          <a:solidFill>
            <a:srgbClr val="F5C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197096"/>
            <a:ext cx="3273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5C500"/>
                </a:solidFill>
              </a:rPr>
              <a:t>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413248"/>
            <a:ext cx="3273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0B8CC"/>
                </a:solidFill>
              </a:rPr>
              <a:t>dias de
trabalho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61688" y="3995928"/>
            <a:ext cx="3547872" cy="2212848"/>
          </a:xfrm>
          <a:prstGeom prst="rect">
            <a:avLst/>
          </a:prstGeom>
          <a:solidFill>
            <a:srgbClr val="06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61688" y="3995928"/>
            <a:ext cx="3547872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98848" y="4197096"/>
            <a:ext cx="3273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38BDF8"/>
                </a:solidFill>
              </a:rPr>
              <a:t>PWA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5413248"/>
            <a:ext cx="3273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0B8CC"/>
                </a:solidFill>
              </a:rPr>
              <a:t>instala
no celular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0456" y="3995928"/>
            <a:ext cx="3547872" cy="2212848"/>
          </a:xfrm>
          <a:prstGeom prst="rect">
            <a:avLst/>
          </a:prstGeom>
          <a:solidFill>
            <a:srgbClr val="031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0456" y="3995928"/>
            <a:ext cx="3547872" cy="9144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57616" y="4197096"/>
            <a:ext cx="3273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86EFAC"/>
                </a:solidFill>
              </a:rPr>
              <a:t>R$ 0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7616" y="5413248"/>
            <a:ext cx="3273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0B8CC"/>
                </a:solidFill>
              </a:rPr>
              <a:t>licenças
externas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0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686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Semana 1  ·  01 – 07 de Junho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8288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CC88"/>
                </a:solidFill>
              </a:rPr>
              <a:t>FUNDAÇÃO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1481328" y="1115568"/>
            <a:ext cx="41148" cy="5486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25880" y="1280160"/>
            <a:ext cx="292608" cy="292608"/>
          </a:xfrm>
          <a:prstGeom prst="rect">
            <a:avLst/>
          </a:prstGeom>
          <a:solidFill>
            <a:srgbClr val="F0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371600" y="1325880"/>
            <a:ext cx="2011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408176" y="1362456"/>
            <a:ext cx="128016" cy="128016"/>
          </a:xfrm>
          <a:prstGeom prst="rect">
            <a:avLst/>
          </a:prstGeom>
          <a:solidFill>
            <a:srgbClr val="F0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965960" y="1216152"/>
            <a:ext cx="9875520" cy="9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920240" y="1170432"/>
            <a:ext cx="9875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920240" y="1170432"/>
            <a:ext cx="73152" cy="914400"/>
          </a:xfrm>
          <a:prstGeom prst="rect">
            <a:avLst/>
          </a:prstGeom>
          <a:solidFill>
            <a:srgbClr val="F0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84831" y="1280160"/>
            <a:ext cx="749808" cy="274320"/>
          </a:xfrm>
          <a:prstGeom prst="rect">
            <a:avLst/>
          </a:prstGeom>
          <a:solidFill>
            <a:srgbClr val="F0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03120" y="1289304"/>
            <a:ext cx="713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02/06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123444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Hub ERP criado do zero — login único (SSO) para todos os apps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84831" y="167335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Deploy Docker no EasyPanel (Hostinger) · banco unificado Supabase SMERP · 3 apps migrados do Lovable em um dia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25880" y="2377440"/>
            <a:ext cx="292608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371600" y="2423160"/>
            <a:ext cx="2011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408176" y="2459736"/>
            <a:ext cx="128016" cy="12801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965960" y="2313432"/>
            <a:ext cx="9875520" cy="9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920240" y="2267712"/>
            <a:ext cx="9875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920240" y="2267712"/>
            <a:ext cx="73152" cy="9144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084831" y="2377440"/>
            <a:ext cx="749808" cy="274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03120" y="2386584"/>
            <a:ext cx="713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02/06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44368" y="233172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Identidade visual unificada em todos os sistemas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84831" y="277063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Laranja + branco + Inter · sidebar recolhível padrão · mesma casca em Compras, BIP e Hora-a-Hora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25880" y="3474720"/>
            <a:ext cx="292608" cy="292608"/>
          </a:xfrm>
          <a:prstGeom prst="rect">
            <a:avLst/>
          </a:prstGeom>
          <a:solidFill>
            <a:srgbClr val="F0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371600" y="3520439"/>
            <a:ext cx="2011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408176" y="3557015"/>
            <a:ext cx="128016" cy="128016"/>
          </a:xfrm>
          <a:prstGeom prst="rect">
            <a:avLst/>
          </a:prstGeom>
          <a:solidFill>
            <a:srgbClr val="F0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965960" y="3410711"/>
            <a:ext cx="9875520" cy="9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920240" y="3364991"/>
            <a:ext cx="9875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920240" y="3364991"/>
            <a:ext cx="73152" cy="914400"/>
          </a:xfrm>
          <a:prstGeom prst="rect">
            <a:avLst/>
          </a:prstGeom>
          <a:solidFill>
            <a:srgbClr val="F0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084831" y="3474720"/>
            <a:ext cx="749808" cy="274320"/>
          </a:xfrm>
          <a:prstGeom prst="rect">
            <a:avLst/>
          </a:prstGeom>
          <a:solidFill>
            <a:srgbClr val="F0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103120" y="3483863"/>
            <a:ext cx="713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04/06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44368" y="3428999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Aba Usuários + autocadastro + notificação WhatsApp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84831" y="3867911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Master cria acessos direto no Hub · novo usuário recebe sistema pelo painel · notificação via Evolution API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25880" y="4572000"/>
            <a:ext cx="292608" cy="2926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371600" y="4617720"/>
            <a:ext cx="2011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408176" y="4654296"/>
            <a:ext cx="128016" cy="1280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965960" y="4507992"/>
            <a:ext cx="9875520" cy="9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920240" y="4462272"/>
            <a:ext cx="9875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920240" y="4462272"/>
            <a:ext cx="73152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084831" y="4572000"/>
            <a:ext cx="749808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103120" y="4581144"/>
            <a:ext cx="713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05/06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44368" y="452628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PWA Android · SMERP instalável no celular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84831" y="496519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manifest + service worker · menu hamburguer + gaveta mobile · Gestor de Sobras (5º módulo) no 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0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686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Semana 2  ·  08 – 14 de Junho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8288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CC88"/>
                </a:solidFill>
              </a:rPr>
              <a:t>EXPANSÃO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1481328" y="1115568"/>
            <a:ext cx="41148" cy="5486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25880" y="1280160"/>
            <a:ext cx="292608" cy="292608"/>
          </a:xfrm>
          <a:prstGeom prst="rect">
            <a:avLst/>
          </a:prstGeom>
          <a:solidFill>
            <a:srgbClr val="F0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371600" y="1325880"/>
            <a:ext cx="2011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408176" y="1362456"/>
            <a:ext cx="128016" cy="128016"/>
          </a:xfrm>
          <a:prstGeom prst="rect">
            <a:avLst/>
          </a:prstGeom>
          <a:solidFill>
            <a:srgbClr val="F0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965960" y="1216152"/>
            <a:ext cx="9875520" cy="9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920240" y="1170432"/>
            <a:ext cx="9875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920240" y="1170432"/>
            <a:ext cx="73152" cy="914400"/>
          </a:xfrm>
          <a:prstGeom prst="rect">
            <a:avLst/>
          </a:prstGeom>
          <a:solidFill>
            <a:srgbClr val="F0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84831" y="1280160"/>
            <a:ext cx="749808" cy="274320"/>
          </a:xfrm>
          <a:prstGeom prst="rect">
            <a:avLst/>
          </a:prstGeom>
          <a:solidFill>
            <a:srgbClr val="F0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03120" y="1289304"/>
            <a:ext cx="713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08/06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123444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Manutenção (CMMS) — 6º módulo no 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84831" y="167335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Ordens de Serviço, máquinas, técnicos · 3 papéis: admin / manutenção / produção · schema isolado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25880" y="2377440"/>
            <a:ext cx="292608" cy="292608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371600" y="2423160"/>
            <a:ext cx="2011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408176" y="2459736"/>
            <a:ext cx="128016" cy="128016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965960" y="2313432"/>
            <a:ext cx="9875520" cy="9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920240" y="2267712"/>
            <a:ext cx="9875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920240" y="2267712"/>
            <a:ext cx="73152" cy="9144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084831" y="2377440"/>
            <a:ext cx="749808" cy="27432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03120" y="2386584"/>
            <a:ext cx="713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09/06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44368" y="233172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Gestor de Frota — 7º módulo + Registro de Carregamento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84831" y="277063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Veículos, diário de bordo, fotos · Registro de Carregamento como aba do BIP (schema expedicao)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25880" y="3474720"/>
            <a:ext cx="292608" cy="2926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371600" y="3520439"/>
            <a:ext cx="2011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408176" y="3557015"/>
            <a:ext cx="128016" cy="1280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965960" y="3410711"/>
            <a:ext cx="9875520" cy="9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920240" y="3364991"/>
            <a:ext cx="9875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920240" y="3364991"/>
            <a:ext cx="73152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084831" y="3474720"/>
            <a:ext cx="749808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103120" y="3483863"/>
            <a:ext cx="713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09/06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44368" y="3428999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Site institucional público no ar (/institucional/)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84831" y="3867911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Landing Solução Móveis · móveis escolares · Portal Trabalhe Conosco · mapa do Brasil com 15 estados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25880" y="4572000"/>
            <a:ext cx="292608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371600" y="4617720"/>
            <a:ext cx="2011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408176" y="4654296"/>
            <a:ext cx="128016" cy="1280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965960" y="4507992"/>
            <a:ext cx="9875520" cy="9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920240" y="4462272"/>
            <a:ext cx="9875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920240" y="4462272"/>
            <a:ext cx="73152" cy="914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084831" y="4572000"/>
            <a:ext cx="749808" cy="27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103120" y="4581144"/>
            <a:ext cx="713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09/06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44368" y="452628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Segurança de rede + troca de senha obrigatória no 1º acesso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84831" y="496519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Headers HTTP: CSP, X-Frame-Options, nosniff, Referrer-Policy · popup de nova senha ao logar pela 1ª vez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3B1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0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686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Semana 3  ·  15 – 21 de Junho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8288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CC88"/>
                </a:solidFill>
              </a:rPr>
              <a:t>IA + NOVOS MÓDULOS</a:t>
            </a:r>
          </a:p>
        </p:txBody>
      </p:sp>
      <p:sp>
        <p:nvSpPr>
          <p:cNvPr id="6" name="Rectangle 5"/>
          <p:cNvSpPr/>
          <p:nvPr/>
        </p:nvSpPr>
        <p:spPr>
          <a:xfrm>
            <a:off x="1481328" y="1115568"/>
            <a:ext cx="41148" cy="5486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25880" y="1280160"/>
            <a:ext cx="292608" cy="292608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371600" y="1325880"/>
            <a:ext cx="2011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408176" y="1362456"/>
            <a:ext cx="128016" cy="128016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965960" y="1216152"/>
            <a:ext cx="9875520" cy="9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920240" y="1170432"/>
            <a:ext cx="9875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920240" y="1170432"/>
            <a:ext cx="73152" cy="9144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84831" y="1280160"/>
            <a:ext cx="749808" cy="27432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03120" y="1289304"/>
            <a:ext cx="713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11/06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123444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Sila — Assistente de IA com voz lançada no 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84831" y="167335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Chat + voz TTS pt-BR · Gemini Flash gratuito · cascata de modelos · modo ligação · lê dados reais com RLS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25880" y="2377440"/>
            <a:ext cx="292608" cy="292608"/>
          </a:xfrm>
          <a:prstGeom prst="rect">
            <a:avLst/>
          </a:prstGeom>
          <a:solidFill>
            <a:srgbClr val="F0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371600" y="2423160"/>
            <a:ext cx="2011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408176" y="2459736"/>
            <a:ext cx="128016" cy="128016"/>
          </a:xfrm>
          <a:prstGeom prst="rect">
            <a:avLst/>
          </a:prstGeom>
          <a:solidFill>
            <a:srgbClr val="F0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965960" y="2313432"/>
            <a:ext cx="9875520" cy="9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920240" y="2267712"/>
            <a:ext cx="9875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920240" y="2267712"/>
            <a:ext cx="73152" cy="914400"/>
          </a:xfrm>
          <a:prstGeom prst="rect">
            <a:avLst/>
          </a:prstGeom>
          <a:solidFill>
            <a:srgbClr val="F0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084831" y="2377440"/>
            <a:ext cx="749808" cy="274320"/>
          </a:xfrm>
          <a:prstGeom prst="rect">
            <a:avLst/>
          </a:prstGeom>
          <a:solidFill>
            <a:srgbClr val="F0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03120" y="2386584"/>
            <a:ext cx="713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17/06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44368" y="233172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Landing com foto da fábrica, carrossel e mapa interativo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84831" y="277063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Carrossel contínuo (marquee) · render realista · 15 estados de entrega · 4 modelos A/B/C/D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25880" y="3474720"/>
            <a:ext cx="292608" cy="2926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371600" y="3520439"/>
            <a:ext cx="2011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408176" y="3557015"/>
            <a:ext cx="128016" cy="1280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965960" y="3410711"/>
            <a:ext cx="9875520" cy="9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920240" y="3364991"/>
            <a:ext cx="9875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920240" y="3364991"/>
            <a:ext cx="73152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084831" y="3474720"/>
            <a:ext cx="749808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103120" y="3483863"/>
            <a:ext cx="713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19/06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44368" y="3428999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Caderno / Utilitários — 10º módulo (wiki nativa)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84831" y="3867911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Editor rico estilo BookStack · draw.io integrado · tags, anexos, comentários · deploy sem repo novo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25880" y="4572000"/>
            <a:ext cx="292608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371600" y="4617720"/>
            <a:ext cx="2011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408176" y="4654296"/>
            <a:ext cx="128016" cy="12801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965960" y="4507992"/>
            <a:ext cx="9875520" cy="9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920240" y="4462272"/>
            <a:ext cx="9875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920240" y="4462272"/>
            <a:ext cx="73152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084831" y="4572000"/>
            <a:ext cx="749808" cy="274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103120" y="4581144"/>
            <a:ext cx="713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19/06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44368" y="452628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Engenharia / RNC — 11º módulo (não conformidades)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84831" y="496519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Registro de RNC nativo no Hub · tela cheia · vinculado ao desvio do Hora-a-Hora · acesso pela aba Usuários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5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0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686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Semana 4  ·  22 – 30 de Junho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8288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CC88"/>
                </a:solidFill>
              </a:rPr>
              <a:t>PLANEJAMENTO DE CARGA</a:t>
            </a:r>
          </a:p>
        </p:txBody>
      </p:sp>
      <p:sp>
        <p:nvSpPr>
          <p:cNvPr id="6" name="Rectangle 5"/>
          <p:cNvSpPr/>
          <p:nvPr/>
        </p:nvSpPr>
        <p:spPr>
          <a:xfrm>
            <a:off x="1481328" y="1115568"/>
            <a:ext cx="41148" cy="5486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25880" y="1280160"/>
            <a:ext cx="292608" cy="2926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371600" y="1325880"/>
            <a:ext cx="2011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408176" y="1362456"/>
            <a:ext cx="128016" cy="1280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965960" y="1216152"/>
            <a:ext cx="9875520" cy="9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920240" y="1170432"/>
            <a:ext cx="9875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920240" y="1170432"/>
            <a:ext cx="73152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84831" y="1280160"/>
            <a:ext cx="749808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03120" y="1289304"/>
            <a:ext cx="713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22/06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123444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Planejamento de Carga — 12º módulo (PCP digital)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84831" y="167335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Digitaliza planilha Excel do PCP · cargas/embarques editáveis · cubagem de planejamento · OTIF nos indicadores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25880" y="2377440"/>
            <a:ext cx="292608" cy="292608"/>
          </a:xfrm>
          <a:prstGeom prst="rect">
            <a:avLst/>
          </a:prstGeom>
          <a:solidFill>
            <a:srgbClr val="F0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371600" y="2423160"/>
            <a:ext cx="2011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408176" y="2459736"/>
            <a:ext cx="128016" cy="128016"/>
          </a:xfrm>
          <a:prstGeom prst="rect">
            <a:avLst/>
          </a:prstGeom>
          <a:solidFill>
            <a:srgbClr val="F0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965960" y="2313432"/>
            <a:ext cx="9875520" cy="9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920240" y="2267712"/>
            <a:ext cx="9875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920240" y="2267712"/>
            <a:ext cx="73152" cy="914400"/>
          </a:xfrm>
          <a:prstGeom prst="rect">
            <a:avLst/>
          </a:prstGeom>
          <a:solidFill>
            <a:srgbClr val="F0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084831" y="2377440"/>
            <a:ext cx="749808" cy="274320"/>
          </a:xfrm>
          <a:prstGeom prst="rect">
            <a:avLst/>
          </a:prstGeom>
          <a:solidFill>
            <a:srgbClr val="F0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03120" y="2386584"/>
            <a:ext cx="713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25/06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44368" y="233172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Compras: indicador de atraso no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84831" y="277063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Aviso visual de solicitações atrasadas · número do pedido de compra por solicitação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25880" y="3474720"/>
            <a:ext cx="292608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371600" y="3520439"/>
            <a:ext cx="2011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408176" y="3557015"/>
            <a:ext cx="128016" cy="12801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965960" y="3410711"/>
            <a:ext cx="9875520" cy="9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920240" y="3364991"/>
            <a:ext cx="9875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920240" y="3364991"/>
            <a:ext cx="73152" cy="9144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084831" y="3474720"/>
            <a:ext cx="749808" cy="274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103120" y="3483863"/>
            <a:ext cx="713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26/06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44368" y="3428999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Caderno: tags, anexos e comentários funcionais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84831" y="3867911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Wiki colaborativa completa com todas as funcionalidades do BookStack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25880" y="4572000"/>
            <a:ext cx="292608" cy="2926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371600" y="4617720"/>
            <a:ext cx="2011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408176" y="4654296"/>
            <a:ext cx="128016" cy="1280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965960" y="4507992"/>
            <a:ext cx="9875520" cy="9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920240" y="4462272"/>
            <a:ext cx="9875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920240" y="4462272"/>
            <a:ext cx="73152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084831" y="4572000"/>
            <a:ext cx="749808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103120" y="4581144"/>
            <a:ext cx="713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30/06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44368" y="452628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Frota: Rota por OSRM + grade colorida por motorista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84831" y="496519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Trajeto real por estradas (OSRM) · rota por fatia de cubagem · motorista da rota espelha na carga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7C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0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686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Julho  ·  01 – 06 de Julho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8288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CC88"/>
                </a:solidFill>
              </a:rPr>
              <a:t>SST + SEGURANÇA</a:t>
            </a:r>
          </a:p>
        </p:txBody>
      </p:sp>
      <p:sp>
        <p:nvSpPr>
          <p:cNvPr id="6" name="Rectangle 5"/>
          <p:cNvSpPr/>
          <p:nvPr/>
        </p:nvSpPr>
        <p:spPr>
          <a:xfrm>
            <a:off x="1481328" y="1115568"/>
            <a:ext cx="41148" cy="5486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25880" y="1280160"/>
            <a:ext cx="292608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371600" y="1325880"/>
            <a:ext cx="2011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408176" y="1362456"/>
            <a:ext cx="128016" cy="12801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965960" y="1216152"/>
            <a:ext cx="9875520" cy="9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920240" y="1170432"/>
            <a:ext cx="9875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920240" y="1170432"/>
            <a:ext cx="73152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84831" y="1280160"/>
            <a:ext cx="749808" cy="274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03120" y="1289304"/>
            <a:ext cx="713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01/07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123444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Frota: pedágio e combustível calculados por rota (TollGuru)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84831" y="167335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API TollGuru integrada · custo real de pedágio + consumo · Manutenção: arquivar máquinas (soft delete)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25880" y="2377440"/>
            <a:ext cx="292608" cy="292608"/>
          </a:xfrm>
          <a:prstGeom prst="rect">
            <a:avLst/>
          </a:prstGeom>
          <a:solidFill>
            <a:srgbClr val="F0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371600" y="2423160"/>
            <a:ext cx="2011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408176" y="2459736"/>
            <a:ext cx="128016" cy="128016"/>
          </a:xfrm>
          <a:prstGeom prst="rect">
            <a:avLst/>
          </a:prstGeom>
          <a:solidFill>
            <a:srgbClr val="F0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965960" y="2313432"/>
            <a:ext cx="9875520" cy="9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920240" y="2267712"/>
            <a:ext cx="9875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920240" y="2267712"/>
            <a:ext cx="73152" cy="914400"/>
          </a:xfrm>
          <a:prstGeom prst="rect">
            <a:avLst/>
          </a:prstGeom>
          <a:solidFill>
            <a:srgbClr val="F0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084831" y="2377440"/>
            <a:ext cx="749808" cy="274320"/>
          </a:xfrm>
          <a:prstGeom prst="rect">
            <a:avLst/>
          </a:prstGeom>
          <a:solidFill>
            <a:srgbClr val="F0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03120" y="2386584"/>
            <a:ext cx="713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02/07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44368" y="233172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SST / Segurança do Trabalho — 13º módulo no 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84831" y="277063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Gestão de Desempenho em Segurança · SESMT lança mensal por setor · termômetro + premiação trimestral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25880" y="3474720"/>
            <a:ext cx="292608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371600" y="3520439"/>
            <a:ext cx="2011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408176" y="3557015"/>
            <a:ext cx="128016" cy="1280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965960" y="3410711"/>
            <a:ext cx="9875520" cy="9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920240" y="3364991"/>
            <a:ext cx="9875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920240" y="3364991"/>
            <a:ext cx="73152" cy="914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084831" y="3474720"/>
            <a:ext cx="749808" cy="27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103120" y="3483863"/>
            <a:ext cx="713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03/07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44368" y="3428999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Correção crítica de segurança nas RPCs de usuários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84831" y="3867911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is_editor() com SECURITY DEFINER · admin_create_user, admin_set_user_systems e admin_list_users blindados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0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Infraestrutura — como tudo está montado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496" y="1152144"/>
            <a:ext cx="11155680" cy="1170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5568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115568"/>
            <a:ext cx="201168" cy="1170432"/>
          </a:xfrm>
          <a:prstGeom prst="rect">
            <a:avLst/>
          </a:prstGeom>
          <a:solidFill>
            <a:srgbClr val="F0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243584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</a:rPr>
              <a:t>🌐  Hostinger  (VPS dedicado)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19072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Servidor virtual com IP fixo · uptime 24/7 · custo mensal fixo · onde o EasyPanel está instalado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24942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" y="2487168"/>
            <a:ext cx="11155680" cy="1170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2450591"/>
            <a:ext cx="1115568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2450591"/>
            <a:ext cx="201168" cy="11704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57860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</a:rPr>
              <a:t>⚙️  EasyPanel  (orquestrador Docker)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54096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Deploy automático via webhook GitHub · cada app roda em container isolado · variáveis de ambiente por serviço · rollback em minutos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58444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9496" y="3822191"/>
            <a:ext cx="11155680" cy="1170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3785615"/>
            <a:ext cx="1115568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3785615"/>
            <a:ext cx="201168" cy="11704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3913631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</a:rPr>
              <a:t>🗄️  Supabase SMERP  (PostgreSQL + Auth)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389120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Banco central com 12 schemas isolados · Auth JWT unificado · PostgREST exposto por schema · RLS ativo em todas as tabelas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91947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9496" y="5157216"/>
            <a:ext cx="11155680" cy="1170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02920" y="5120640"/>
            <a:ext cx="1115568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2920" y="5120640"/>
            <a:ext cx="201168" cy="117043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5248655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</a:rPr>
              <a:t>🔗  GitHub  (4 repositórios + CI/CD)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724144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erp · bip-solucao · comprasolucao · hora-hora-fabrill · token Classic repo scope · branch deploy/easypanel-docker para TanStack · push = deploy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0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Banco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EC8"/>
                </a:solidFill>
              </a:rPr>
              <a:t>PostgreSQL · 12 schemas independentes · Supabase SMERP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3" y="1133856"/>
            <a:ext cx="3694176" cy="12070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" y="1097280"/>
            <a:ext cx="3694176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4048" y="1097280"/>
            <a:ext cx="3694176" cy="731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280160"/>
            <a:ext cx="1417320" cy="347472"/>
          </a:xfrm>
          <a:prstGeom prst="rect">
            <a:avLst/>
          </a:prstGeom>
          <a:solidFill>
            <a:srgbClr val="DB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5216" y="1298448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public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556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Hub central + Auth + gestão de usuários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4256" y="1133856"/>
            <a:ext cx="3694176" cy="12070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80" y="1097280"/>
            <a:ext cx="3694176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7680" y="1097280"/>
            <a:ext cx="3694176" cy="73152"/>
          </a:xfrm>
          <a:prstGeom prst="rect">
            <a:avLst/>
          </a:prstGeom>
          <a:solidFill>
            <a:srgbClr val="F0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62272" y="1280160"/>
            <a:ext cx="1417320" cy="347472"/>
          </a:xfrm>
          <a:prstGeom prst="rect">
            <a:avLst/>
          </a:prstGeom>
          <a:solidFill>
            <a:srgbClr val="FF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98848" y="1298448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5A22"/>
                </a:solidFill>
              </a:rPr>
              <a:t>compras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17556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Solicitações, cotações, pedidos, fornecedores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47888" y="1133856"/>
            <a:ext cx="3694176" cy="12070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11312" y="1097280"/>
            <a:ext cx="3694176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11312" y="1097280"/>
            <a:ext cx="3694176" cy="731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375904" y="1280160"/>
            <a:ext cx="1417320" cy="347472"/>
          </a:xfrm>
          <a:prstGeom prst="rect">
            <a:avLst/>
          </a:prstGeom>
          <a:solidFill>
            <a:srgbClr val="DB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0" y="1298448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fabrill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5904" y="17556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Hora-a-Hora: metas, apontamentos, desvios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3" y="2551176"/>
            <a:ext cx="3694176" cy="12070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84048" y="2514600"/>
            <a:ext cx="3694176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84048" y="2514600"/>
            <a:ext cx="3694176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2697480"/>
            <a:ext cx="1417320" cy="34747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5216" y="2715768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</a:rPr>
              <a:t>bip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1729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Expedição + Registro de Carregamento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34256" y="2551176"/>
            <a:ext cx="3694176" cy="12070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297680" y="2514600"/>
            <a:ext cx="3694176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297680" y="2514600"/>
            <a:ext cx="3694176" cy="731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462272" y="2697480"/>
            <a:ext cx="1417320" cy="347472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98848" y="2715768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B21B6"/>
                </a:solidFill>
              </a:rPr>
              <a:t>frota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62272" y="31729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Veículos, motoristas, abastecimento, rotas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47888" y="2551176"/>
            <a:ext cx="3694176" cy="12070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211312" y="2514600"/>
            <a:ext cx="3694176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211312" y="2514600"/>
            <a:ext cx="3694176" cy="73152"/>
          </a:xfrm>
          <a:prstGeom prst="rect">
            <a:avLst/>
          </a:prstGeom>
          <a:solidFill>
            <a:srgbClr val="F0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375904" y="2697480"/>
            <a:ext cx="1417320" cy="347472"/>
          </a:xfrm>
          <a:prstGeom prst="rect">
            <a:avLst/>
          </a:prstGeom>
          <a:solidFill>
            <a:srgbClr val="FF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12480" y="2715768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5A22"/>
                </a:solidFill>
              </a:rPr>
              <a:t>manutencao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75904" y="31729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OS, máquinas, programação mensal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3" y="3968496"/>
            <a:ext cx="3694176" cy="12070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84048" y="3931920"/>
            <a:ext cx="3694176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84048" y="3931920"/>
            <a:ext cx="3694176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48640" y="4114800"/>
            <a:ext cx="1417320" cy="34747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85216" y="4133087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</a:rPr>
              <a:t>sobras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459028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Estoque de sobras: entradas, saídas, saldo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34256" y="3968496"/>
            <a:ext cx="3694176" cy="12070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297680" y="3931920"/>
            <a:ext cx="3694176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297680" y="3931920"/>
            <a:ext cx="3694176" cy="731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462272" y="4114800"/>
            <a:ext cx="1417320" cy="347472"/>
          </a:xfrm>
          <a:prstGeom prst="rect">
            <a:avLst/>
          </a:prstGeom>
          <a:solidFill>
            <a:srgbClr val="DB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498848" y="4133087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gestao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62272" y="459028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BI executivo — leitura cross-schema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47888" y="3968496"/>
            <a:ext cx="3694176" cy="12070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211312" y="3931920"/>
            <a:ext cx="3694176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8211312" y="3931920"/>
            <a:ext cx="3694176" cy="731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375904" y="4114800"/>
            <a:ext cx="1417320" cy="347472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412480" y="4133087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B21B6"/>
                </a:solidFill>
              </a:rPr>
              <a:t>planos_acao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75904" y="459028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Projetos 5W2H: tarefas, evidências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0623" y="5385816"/>
            <a:ext cx="3694176" cy="12070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384048" y="5349240"/>
            <a:ext cx="3694176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384048" y="5349240"/>
            <a:ext cx="3694176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48640" y="5532120"/>
            <a:ext cx="1417320" cy="34747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85216" y="5550408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engenharia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" y="600760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RNC: não conformidades e assistências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334256" y="5385816"/>
            <a:ext cx="3694176" cy="12070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4297680" y="5349240"/>
            <a:ext cx="3694176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7680" y="5349240"/>
            <a:ext cx="3694176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462272" y="5532120"/>
            <a:ext cx="1417320" cy="34747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498848" y="5550408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seguranca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62272" y="600760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SST: lançamentos, ocorrências, pontuação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247888" y="5385816"/>
            <a:ext cx="3694176" cy="12070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8211312" y="5349240"/>
            <a:ext cx="3694176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8211312" y="5349240"/>
            <a:ext cx="3694176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8375904" y="5532120"/>
            <a:ext cx="1417320" cy="34747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412480" y="5550408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</a:rPr>
              <a:t>caderno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75904" y="600760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Wiki: estantes, livros, páginas, tags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7C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Segurança do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A0A0"/>
                </a:solidFill>
              </a:rPr>
              <a:t>Proteção por camadas — do banco ao navegador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3" y="1115568"/>
            <a:ext cx="5623560" cy="17190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" y="1078992"/>
            <a:ext cx="562356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4048" y="1078992"/>
            <a:ext cx="146304" cy="17190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" y="1207007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🔑  RLS — Row Level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700784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Políticas no banco garantem que cada usuário vê APENAS seus próprios dados.
Protegido no PostgreSQL — não depende do código do front-end.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4496" y="1115568"/>
            <a:ext cx="5623560" cy="17190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078992"/>
            <a:ext cx="562356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078992"/>
            <a:ext cx="146304" cy="1719072"/>
          </a:xfrm>
          <a:prstGeom prst="rect">
            <a:avLst/>
          </a:prstGeom>
          <a:solidFill>
            <a:srgbClr val="F0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0528" y="1207007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👤  RBAC por módulo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700784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Papéis distintos em cada sistema (ex.: solicitante/comprador/aprovador em Compras,
admin/sesmt/lider em Segurança). Atribuído pelo master no Hub.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3" y="2990087"/>
            <a:ext cx="5623560" cy="17190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4048" y="2953511"/>
            <a:ext cx="562356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84048" y="2953511"/>
            <a:ext cx="146304" cy="17190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" y="3081527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🛡️  SECURITY DEFINER nas RPCs críticas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3575303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Funções admin_create_user e admin_set_user_systems verificam can_manage_users()
antes de qualquer ação — somente o master executa.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4496" y="2990087"/>
            <a:ext cx="5623560" cy="17190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2953511"/>
            <a:ext cx="562356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2953511"/>
            <a:ext cx="146304" cy="17190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10528" y="3081527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🔒  Headers HTTP de segurança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3575303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CSP, X-Frame-Options, X-Content-Type-Options, Referrer-Policy configurados
no Nginx de cada app — previnem XSS, clickjacking e MIME sniffing.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3" y="4864607"/>
            <a:ext cx="5623560" cy="17190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84048" y="4828031"/>
            <a:ext cx="562356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84048" y="4828031"/>
            <a:ext cx="146304" cy="171907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6656" y="4956047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🔐  JWT + SSO unificado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" y="5449823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Um login acessa todos os módulos · token JWT emitido pelo Supabase Auth
· senha em bcrypt · email verificado na criação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54496" y="4864607"/>
            <a:ext cx="5623560" cy="17190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17920" y="4828031"/>
            <a:ext cx="562356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17920" y="4828031"/>
            <a:ext cx="146304" cy="17190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10528" y="4956047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🚫  Troca de senha obrigatória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5449823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Novo colaborador criado pelo master deve redefinir a senha no primeiro acesso
— garantia de que só ele conhece sua credencial.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13 módulos em operação hoje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EC8"/>
                </a:solidFill>
              </a:rPr>
              <a:t>Todos no ar — Solução Móveis · Julho de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904" y="1106424"/>
            <a:ext cx="5650992" cy="6949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7472" y="1078992"/>
            <a:ext cx="5650992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7472" y="1078992"/>
            <a:ext cx="128016" cy="69494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3504" y="1261872"/>
            <a:ext cx="685800" cy="27432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1271016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59669"/>
                </a:solidFill>
              </a:rPr>
              <a:t>✓ NO 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1" y="115214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Hub Central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031" y="148132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Login único · PWA Android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56632" y="115214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D1B3E"/>
                </a:solidFill>
              </a:rPr>
              <a:t>02/06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1106424"/>
            <a:ext cx="5650992" cy="6949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078992"/>
            <a:ext cx="5650992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1078992"/>
            <a:ext cx="128016" cy="694944"/>
          </a:xfrm>
          <a:prstGeom prst="rect">
            <a:avLst/>
          </a:prstGeom>
          <a:solidFill>
            <a:srgbClr val="F0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73952" y="1261872"/>
            <a:ext cx="685800" cy="27432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1271016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59669"/>
                </a:solidFill>
              </a:rPr>
              <a:t>✓ NO 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79" y="115214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Compras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79" y="148132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Solicitações, cotações, pedidos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27080" y="115214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05A22"/>
                </a:solidFill>
              </a:rPr>
              <a:t>02/06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4" y="1911095"/>
            <a:ext cx="5650992" cy="6949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47472" y="1883664"/>
            <a:ext cx="5650992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47472" y="1883664"/>
            <a:ext cx="128016" cy="69494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3504" y="2066544"/>
            <a:ext cx="685800" cy="27432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" y="2075688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59669"/>
                </a:solidFill>
              </a:rPr>
              <a:t>✓ NO 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99031" y="19568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Hora-a-Hora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99031" y="22860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Produção em tempo real por setor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56632" y="195681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D1B3E"/>
                </a:solidFill>
              </a:rPr>
              <a:t>02/06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45352" y="1911095"/>
            <a:ext cx="5650992" cy="6949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17920" y="1883664"/>
            <a:ext cx="5650992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17920" y="1883664"/>
            <a:ext cx="128016" cy="69494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73952" y="2066544"/>
            <a:ext cx="685800" cy="27432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92240" y="2075688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59669"/>
                </a:solidFill>
              </a:rPr>
              <a:t>✓ NO 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79" y="19568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Gestor de Expedição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79" y="22860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BIP + Registro de Carregamento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27080" y="195681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D1B3E"/>
                </a:solidFill>
              </a:rPr>
              <a:t>02/06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4904" y="2715768"/>
            <a:ext cx="5650992" cy="6949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47472" y="2688336"/>
            <a:ext cx="5650992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47472" y="2688336"/>
            <a:ext cx="128016" cy="694944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03504" y="2871216"/>
            <a:ext cx="685800" cy="27432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1792" y="2880360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59669"/>
                </a:solidFill>
              </a:rPr>
              <a:t>✓ NO 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99031" y="276148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Painel Gerencial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99031" y="309067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BI executivo e indicadores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56632" y="27614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5B21B6"/>
                </a:solidFill>
              </a:rPr>
              <a:t>02/06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45352" y="2715768"/>
            <a:ext cx="5650992" cy="6949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217920" y="2688336"/>
            <a:ext cx="5650992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217920" y="2688336"/>
            <a:ext cx="128016" cy="6949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473952" y="2871216"/>
            <a:ext cx="685800" cy="27432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92240" y="2880360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59669"/>
                </a:solidFill>
              </a:rPr>
              <a:t>✓ NO AR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69479" y="276148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Gestor de Sobras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69479" y="309067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Estoque de sobras da fábrica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27080" y="27614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59669"/>
                </a:solidFill>
              </a:rPr>
              <a:t>05/06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74904" y="3520440"/>
            <a:ext cx="5650992" cy="6949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47472" y="3493008"/>
            <a:ext cx="5650992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347472" y="3493008"/>
            <a:ext cx="128016" cy="694944"/>
          </a:xfrm>
          <a:prstGeom prst="rect">
            <a:avLst/>
          </a:prstGeom>
          <a:solidFill>
            <a:srgbClr val="F0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03504" y="3675888"/>
            <a:ext cx="685800" cy="27432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21792" y="3685032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59669"/>
                </a:solidFill>
              </a:rPr>
              <a:t>✓ NO AR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99031" y="35661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Manutenção (CMMS)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99031" y="389534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OS, máquinas, programação mensal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56632" y="35661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05A22"/>
                </a:solidFill>
              </a:rPr>
              <a:t>08/06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45352" y="3520440"/>
            <a:ext cx="5650992" cy="6949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6217920" y="3493008"/>
            <a:ext cx="5650992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6217920" y="3493008"/>
            <a:ext cx="128016" cy="694944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6473952" y="3675888"/>
            <a:ext cx="685800" cy="27432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492240" y="3685032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59669"/>
                </a:solidFill>
              </a:rPr>
              <a:t>✓ NO AR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9479" y="35661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Gestor de Frota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69479" y="389534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Veículos, rotas, pedágio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927080" y="35661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5B21B6"/>
                </a:solidFill>
              </a:rPr>
              <a:t>09/06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4904" y="4325112"/>
            <a:ext cx="5650992" cy="6949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347472" y="4297680"/>
            <a:ext cx="5650992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347472" y="4297680"/>
            <a:ext cx="128016" cy="6949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603504" y="4480560"/>
            <a:ext cx="685800" cy="27432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21792" y="4489704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59669"/>
                </a:solidFill>
              </a:rPr>
              <a:t>✓ NO AR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399031" y="43708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Site Institucional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399031" y="470001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Landing pública móveis escolares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56632" y="437083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59669"/>
                </a:solidFill>
              </a:rPr>
              <a:t>09/06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245352" y="4325112"/>
            <a:ext cx="5650992" cy="6949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6217920" y="4297680"/>
            <a:ext cx="5650992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6217920" y="4297680"/>
            <a:ext cx="128016" cy="694944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6473952" y="4480560"/>
            <a:ext cx="685800" cy="27432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492240" y="4489704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59669"/>
                </a:solidFill>
              </a:rPr>
              <a:t>✓ NO AR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269479" y="43708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Sila — IA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269479" y="470001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Assistente de chat e voz no Hub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927080" y="437083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5B21B6"/>
                </a:solidFill>
              </a:rPr>
              <a:t>11/06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74904" y="5129784"/>
            <a:ext cx="5650992" cy="6949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347472" y="5102352"/>
            <a:ext cx="5650992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347472" y="5102352"/>
            <a:ext cx="128016" cy="69494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603504" y="5285232"/>
            <a:ext cx="685800" cy="27432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21792" y="5294376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59669"/>
                </a:solidFill>
              </a:rPr>
              <a:t>✓ NO AR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99031" y="517550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Caderno / Utilitários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399031" y="550468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Wiki estilo BookStack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056632" y="517550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D1B3E"/>
                </a:solidFill>
              </a:rPr>
              <a:t>19/06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245352" y="5129784"/>
            <a:ext cx="5650992" cy="6949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6217920" y="5102352"/>
            <a:ext cx="5650992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6217920" y="5102352"/>
            <a:ext cx="128016" cy="69494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6473952" y="5285232"/>
            <a:ext cx="685800" cy="27432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492240" y="5294376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59669"/>
                </a:solidFill>
              </a:rPr>
              <a:t>✓ NO AR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69479" y="517550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Engenharia / RNC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269479" y="550468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Não conformidades e assistências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927080" y="517550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DC2626"/>
                </a:solidFill>
              </a:rPr>
              <a:t>19/06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74904" y="5934456"/>
            <a:ext cx="5650992" cy="6949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347472" y="5907024"/>
            <a:ext cx="5650992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347472" y="5907024"/>
            <a:ext cx="128016" cy="6949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603504" y="6089904"/>
            <a:ext cx="685800" cy="27432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621792" y="6099048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59669"/>
                </a:solidFill>
              </a:rPr>
              <a:t>✓ NO AR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399031" y="598017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Planejamento de Carga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399031" y="63093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PCP digital com OTIF e rotas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056632" y="598017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59669"/>
                </a:solidFill>
              </a:rPr>
              <a:t>22/06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245352" y="5934456"/>
            <a:ext cx="5650992" cy="6949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6217920" y="5907024"/>
            <a:ext cx="5650992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6217920" y="5907024"/>
            <a:ext cx="128016" cy="69494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6473952" y="6089904"/>
            <a:ext cx="685800" cy="27432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6492240" y="6099048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59669"/>
                </a:solidFill>
              </a:rPr>
              <a:t>✓ NO AR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269479" y="598017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SST / Segurança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269479" y="63093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Gestão de desempenho em segurança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927080" y="598017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DC2626"/>
                </a:solidFill>
              </a:rPr>
              <a:t>02/07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971856-1556-54BB-703E-383526080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1A4932-8E69-BEC3-84CD-E302E0C7D7DB}"/>
              </a:ext>
            </a:extLst>
          </p:cNvPr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6F4FB9-4EBB-B117-97F5-B4A968862692}"/>
              </a:ext>
            </a:extLst>
          </p:cNvPr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A0BF1E-1682-89D2-1AB5-42CE66B01FFD}"/>
              </a:ext>
            </a:extLst>
          </p:cNvPr>
          <p:cNvSpPr txBox="1"/>
          <p:nvPr/>
        </p:nvSpPr>
        <p:spPr>
          <a:xfrm>
            <a:off x="502920" y="9144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b="1" i="0" dirty="0">
                <a:solidFill>
                  <a:srgbClr val="FFFFFF"/>
                </a:solidFill>
              </a:rPr>
              <a:t>Projetos em Acompanhamento</a:t>
            </a:r>
            <a:endParaRPr sz="2800" b="1" i="0" dirty="0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62E8D7-EE99-4015-E132-23ECEADB6628}"/>
              </a:ext>
            </a:extLst>
          </p:cNvPr>
          <p:cNvSpPr txBox="1"/>
          <p:nvPr/>
        </p:nvSpPr>
        <p:spPr>
          <a:xfrm>
            <a:off x="502920" y="62179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EC8"/>
                </a:solidFill>
              </a:rPr>
              <a:t>Todos no ar — Solução Móveis · Julho de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D40306-0B5E-64F2-087A-92F634A5CDEE}"/>
              </a:ext>
            </a:extLst>
          </p:cNvPr>
          <p:cNvSpPr/>
          <p:nvPr/>
        </p:nvSpPr>
        <p:spPr>
          <a:xfrm>
            <a:off x="374904" y="1106424"/>
            <a:ext cx="5650992" cy="6949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F3E54C-2455-0BF0-2FF6-B30E88A8D157}"/>
              </a:ext>
            </a:extLst>
          </p:cNvPr>
          <p:cNvSpPr/>
          <p:nvPr/>
        </p:nvSpPr>
        <p:spPr>
          <a:xfrm>
            <a:off x="347472" y="1078992"/>
            <a:ext cx="5650992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7FB2CA-9E79-4DCF-92A3-1E422E8EE756}"/>
              </a:ext>
            </a:extLst>
          </p:cNvPr>
          <p:cNvSpPr/>
          <p:nvPr/>
        </p:nvSpPr>
        <p:spPr>
          <a:xfrm>
            <a:off x="347472" y="1078992"/>
            <a:ext cx="128016" cy="69494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FABD04-2516-A33B-913B-D62FDA322865}"/>
              </a:ext>
            </a:extLst>
          </p:cNvPr>
          <p:cNvSpPr txBox="1"/>
          <p:nvPr/>
        </p:nvSpPr>
        <p:spPr>
          <a:xfrm>
            <a:off x="602785" y="1298337"/>
            <a:ext cx="558757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300" b="1" dirty="0">
                <a:solidFill>
                  <a:srgbClr val="1E293B"/>
                </a:solidFill>
              </a:rPr>
              <a:t>Criação de solução para marcos</a:t>
            </a:r>
          </a:p>
        </p:txBody>
      </p:sp>
      <p:sp>
        <p:nvSpPr>
          <p:cNvPr id="119" name="Rectangle 5">
            <a:extLst>
              <a:ext uri="{FF2B5EF4-FFF2-40B4-BE49-F238E27FC236}">
                <a16:creationId xmlns:a16="http://schemas.microsoft.com/office/drawing/2014/main" id="{8B91E4F9-88BB-D00D-D0E7-7741822C54FF}"/>
              </a:ext>
            </a:extLst>
          </p:cNvPr>
          <p:cNvSpPr/>
          <p:nvPr/>
        </p:nvSpPr>
        <p:spPr>
          <a:xfrm>
            <a:off x="379820" y="2025742"/>
            <a:ext cx="5650992" cy="6949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6">
            <a:extLst>
              <a:ext uri="{FF2B5EF4-FFF2-40B4-BE49-F238E27FC236}">
                <a16:creationId xmlns:a16="http://schemas.microsoft.com/office/drawing/2014/main" id="{4BB28C7C-1E81-2ED7-3E07-845270AF5CA0}"/>
              </a:ext>
            </a:extLst>
          </p:cNvPr>
          <p:cNvSpPr/>
          <p:nvPr/>
        </p:nvSpPr>
        <p:spPr>
          <a:xfrm>
            <a:off x="352388" y="1998310"/>
            <a:ext cx="5650992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7">
            <a:extLst>
              <a:ext uri="{FF2B5EF4-FFF2-40B4-BE49-F238E27FC236}">
                <a16:creationId xmlns:a16="http://schemas.microsoft.com/office/drawing/2014/main" id="{DADCB272-F6B2-5906-578D-2765713168D8}"/>
              </a:ext>
            </a:extLst>
          </p:cNvPr>
          <p:cNvSpPr/>
          <p:nvPr/>
        </p:nvSpPr>
        <p:spPr>
          <a:xfrm>
            <a:off x="352388" y="1998310"/>
            <a:ext cx="128016" cy="69494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0">
            <a:extLst>
              <a:ext uri="{FF2B5EF4-FFF2-40B4-BE49-F238E27FC236}">
                <a16:creationId xmlns:a16="http://schemas.microsoft.com/office/drawing/2014/main" id="{3E63D0DD-CA36-052C-891B-5C6B66727DC3}"/>
              </a:ext>
            </a:extLst>
          </p:cNvPr>
          <p:cNvSpPr txBox="1"/>
          <p:nvPr/>
        </p:nvSpPr>
        <p:spPr>
          <a:xfrm>
            <a:off x="607701" y="2217655"/>
            <a:ext cx="558757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300" b="1" dirty="0">
                <a:solidFill>
                  <a:srgbClr val="1E293B"/>
                </a:solidFill>
              </a:rPr>
              <a:t>Projeto Percepta</a:t>
            </a:r>
          </a:p>
        </p:txBody>
      </p:sp>
      <p:sp>
        <p:nvSpPr>
          <p:cNvPr id="127" name="Rectangle 5">
            <a:extLst>
              <a:ext uri="{FF2B5EF4-FFF2-40B4-BE49-F238E27FC236}">
                <a16:creationId xmlns:a16="http://schemas.microsoft.com/office/drawing/2014/main" id="{B6995644-2881-F466-BABC-CEC2227E9549}"/>
              </a:ext>
            </a:extLst>
          </p:cNvPr>
          <p:cNvSpPr/>
          <p:nvPr/>
        </p:nvSpPr>
        <p:spPr>
          <a:xfrm>
            <a:off x="389653" y="2940142"/>
            <a:ext cx="5650992" cy="6949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6">
            <a:extLst>
              <a:ext uri="{FF2B5EF4-FFF2-40B4-BE49-F238E27FC236}">
                <a16:creationId xmlns:a16="http://schemas.microsoft.com/office/drawing/2014/main" id="{8F3AB208-7B83-74DC-105C-6BE9104D0A40}"/>
              </a:ext>
            </a:extLst>
          </p:cNvPr>
          <p:cNvSpPr/>
          <p:nvPr/>
        </p:nvSpPr>
        <p:spPr>
          <a:xfrm>
            <a:off x="362221" y="2912710"/>
            <a:ext cx="5650992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7">
            <a:extLst>
              <a:ext uri="{FF2B5EF4-FFF2-40B4-BE49-F238E27FC236}">
                <a16:creationId xmlns:a16="http://schemas.microsoft.com/office/drawing/2014/main" id="{53205ECE-CC44-523C-614C-600094984D4E}"/>
              </a:ext>
            </a:extLst>
          </p:cNvPr>
          <p:cNvSpPr/>
          <p:nvPr/>
        </p:nvSpPr>
        <p:spPr>
          <a:xfrm>
            <a:off x="362221" y="2912710"/>
            <a:ext cx="128016" cy="69494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0">
            <a:extLst>
              <a:ext uri="{FF2B5EF4-FFF2-40B4-BE49-F238E27FC236}">
                <a16:creationId xmlns:a16="http://schemas.microsoft.com/office/drawing/2014/main" id="{9427518B-4069-669C-9194-180AE51D2532}"/>
              </a:ext>
            </a:extLst>
          </p:cNvPr>
          <p:cNvSpPr txBox="1"/>
          <p:nvPr/>
        </p:nvSpPr>
        <p:spPr>
          <a:xfrm>
            <a:off x="617534" y="3132055"/>
            <a:ext cx="558757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300" b="1" dirty="0">
                <a:solidFill>
                  <a:srgbClr val="1E293B"/>
                </a:solidFill>
              </a:rPr>
              <a:t>Criação Indicadores dentro do sistema</a:t>
            </a:r>
          </a:p>
        </p:txBody>
      </p:sp>
      <p:sp>
        <p:nvSpPr>
          <p:cNvPr id="135" name="Rectangle 5">
            <a:extLst>
              <a:ext uri="{FF2B5EF4-FFF2-40B4-BE49-F238E27FC236}">
                <a16:creationId xmlns:a16="http://schemas.microsoft.com/office/drawing/2014/main" id="{6C04F1D8-B65F-E474-CD3A-D8BA278EAF21}"/>
              </a:ext>
            </a:extLst>
          </p:cNvPr>
          <p:cNvSpPr/>
          <p:nvPr/>
        </p:nvSpPr>
        <p:spPr>
          <a:xfrm>
            <a:off x="389651" y="3834880"/>
            <a:ext cx="5650992" cy="6949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6">
            <a:extLst>
              <a:ext uri="{FF2B5EF4-FFF2-40B4-BE49-F238E27FC236}">
                <a16:creationId xmlns:a16="http://schemas.microsoft.com/office/drawing/2014/main" id="{D75278C5-DAC9-C844-4344-0A8C6320B82E}"/>
              </a:ext>
            </a:extLst>
          </p:cNvPr>
          <p:cNvSpPr/>
          <p:nvPr/>
        </p:nvSpPr>
        <p:spPr>
          <a:xfrm>
            <a:off x="362219" y="3807448"/>
            <a:ext cx="5650992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7">
            <a:extLst>
              <a:ext uri="{FF2B5EF4-FFF2-40B4-BE49-F238E27FC236}">
                <a16:creationId xmlns:a16="http://schemas.microsoft.com/office/drawing/2014/main" id="{1827FB3F-2C7B-1AB0-50E0-FD5083E14BF7}"/>
              </a:ext>
            </a:extLst>
          </p:cNvPr>
          <p:cNvSpPr/>
          <p:nvPr/>
        </p:nvSpPr>
        <p:spPr>
          <a:xfrm>
            <a:off x="362219" y="3807448"/>
            <a:ext cx="128016" cy="69494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0">
            <a:extLst>
              <a:ext uri="{FF2B5EF4-FFF2-40B4-BE49-F238E27FC236}">
                <a16:creationId xmlns:a16="http://schemas.microsoft.com/office/drawing/2014/main" id="{A6359357-F599-A13D-556C-614607CC55C5}"/>
              </a:ext>
            </a:extLst>
          </p:cNvPr>
          <p:cNvSpPr txBox="1"/>
          <p:nvPr/>
        </p:nvSpPr>
        <p:spPr>
          <a:xfrm>
            <a:off x="617532" y="4026793"/>
            <a:ext cx="558757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300" b="1" dirty="0">
                <a:solidFill>
                  <a:srgbClr val="1E293B"/>
                </a:solidFill>
              </a:rPr>
              <a:t>Analise dos ERPS para remoção do </a:t>
            </a:r>
            <a:r>
              <a:rPr lang="pt-BR" sz="1300" b="1" dirty="0" err="1">
                <a:solidFill>
                  <a:srgbClr val="1E293B"/>
                </a:solidFill>
              </a:rPr>
              <a:t>Forwood</a:t>
            </a:r>
            <a:endParaRPr lang="pt-BR" sz="1300" b="1" dirty="0">
              <a:solidFill>
                <a:srgbClr val="1E293B"/>
              </a:solidFill>
            </a:endParaRPr>
          </a:p>
        </p:txBody>
      </p:sp>
      <p:sp>
        <p:nvSpPr>
          <p:cNvPr id="143" name="Rectangle 5">
            <a:extLst>
              <a:ext uri="{FF2B5EF4-FFF2-40B4-BE49-F238E27FC236}">
                <a16:creationId xmlns:a16="http://schemas.microsoft.com/office/drawing/2014/main" id="{D8780D08-CFA5-8213-9AE7-E99866EB30BA}"/>
              </a:ext>
            </a:extLst>
          </p:cNvPr>
          <p:cNvSpPr/>
          <p:nvPr/>
        </p:nvSpPr>
        <p:spPr>
          <a:xfrm>
            <a:off x="409319" y="4798448"/>
            <a:ext cx="5650992" cy="6949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6">
            <a:extLst>
              <a:ext uri="{FF2B5EF4-FFF2-40B4-BE49-F238E27FC236}">
                <a16:creationId xmlns:a16="http://schemas.microsoft.com/office/drawing/2014/main" id="{A513696B-A47B-95AD-9518-4AF27D5F2685}"/>
              </a:ext>
            </a:extLst>
          </p:cNvPr>
          <p:cNvSpPr/>
          <p:nvPr/>
        </p:nvSpPr>
        <p:spPr>
          <a:xfrm>
            <a:off x="381887" y="4771016"/>
            <a:ext cx="5650992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7">
            <a:extLst>
              <a:ext uri="{FF2B5EF4-FFF2-40B4-BE49-F238E27FC236}">
                <a16:creationId xmlns:a16="http://schemas.microsoft.com/office/drawing/2014/main" id="{31921F4A-E513-2F1B-E946-CB520C0A9079}"/>
              </a:ext>
            </a:extLst>
          </p:cNvPr>
          <p:cNvSpPr/>
          <p:nvPr/>
        </p:nvSpPr>
        <p:spPr>
          <a:xfrm>
            <a:off x="381887" y="4771016"/>
            <a:ext cx="128016" cy="69494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0">
            <a:extLst>
              <a:ext uri="{FF2B5EF4-FFF2-40B4-BE49-F238E27FC236}">
                <a16:creationId xmlns:a16="http://schemas.microsoft.com/office/drawing/2014/main" id="{83CCE125-2469-5E5A-D0C2-EF85391391FD}"/>
              </a:ext>
            </a:extLst>
          </p:cNvPr>
          <p:cNvSpPr txBox="1"/>
          <p:nvPr/>
        </p:nvSpPr>
        <p:spPr>
          <a:xfrm>
            <a:off x="637200" y="4990361"/>
            <a:ext cx="558757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300" b="1" dirty="0">
                <a:solidFill>
                  <a:srgbClr val="1E293B"/>
                </a:solidFill>
              </a:rPr>
              <a:t>Refinamentos de segurança ERP</a:t>
            </a:r>
          </a:p>
        </p:txBody>
      </p:sp>
    </p:spTree>
    <p:extLst>
      <p:ext uri="{BB962C8B-B14F-4D97-AF65-F5344CB8AC3E}">
        <p14:creationId xmlns:p14="http://schemas.microsoft.com/office/powerpoint/2010/main" val="3982226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0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0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0" y="1645920"/>
            <a:ext cx="9966960" cy="3474720"/>
          </a:xfrm>
          <a:prstGeom prst="rect">
            <a:avLst/>
          </a:prstGeom>
          <a:solidFill>
            <a:srgbClr val="0A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97280" y="1645920"/>
            <a:ext cx="146304" cy="3474720"/>
          </a:xfrm>
          <a:prstGeom prst="rect">
            <a:avLst/>
          </a:prstGeom>
          <a:solidFill>
            <a:srgbClr val="F0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63040" y="192024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De 0 a 13 módulos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83464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05A22"/>
                </a:solidFill>
              </a:rPr>
              <a:t>em 36 dias.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858768"/>
            <a:ext cx="9601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90A8CC"/>
                </a:solidFill>
              </a:rPr>
              <a:t>Tudo construído internamente · sem licenças externas
rodando no servidor da empresa com segurança real.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30936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06280"/>
                </a:solidFill>
              </a:rPr>
              <a:t>Solução Móveis Ind. e Com. Ltda.  ·  Julho de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1356</Words>
  <Application>Microsoft Office PowerPoint</Application>
  <PresentationFormat>Personalizar</PresentationFormat>
  <Paragraphs>207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Robson Costa - Leo Mob</cp:lastModifiedBy>
  <cp:revision>3</cp:revision>
  <dcterms:created xsi:type="dcterms:W3CDTF">2013-01-27T09:14:16Z</dcterms:created>
  <dcterms:modified xsi:type="dcterms:W3CDTF">2026-07-07T12:14:34Z</dcterms:modified>
  <cp:category/>
</cp:coreProperties>
</file>